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DCFC"/>
    <a:srgbClr val="6B7690"/>
    <a:srgbClr val="FFFFFF"/>
    <a:srgbClr val="2732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2" d="100"/>
          <a:sy n="72" d="100"/>
        </p:scale>
        <p:origin x="27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C81E3A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42.71%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9A4-4B4C-B548-E06A410DDE4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11.27%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19A4-4B4C-B548-E06A410DDE4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2.83%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9A4-4B4C-B548-E06A410DDE42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732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42.71</c:v>
                </c:pt>
                <c:pt idx="1">
                  <c:v>11.27</c:v>
                </c:pt>
                <c:pt idx="2">
                  <c:v>2.83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A4-4B4C-B548-E06A410DDE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C81E3A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52.94%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F97-4871-A58F-58837872C08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35.89%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F97-4871-A58F-58837872C08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28.71%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F97-4871-A58F-58837872C08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20.39%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F97-4871-A58F-58837872C08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dirty="0"/>
                      <a:t>9.51%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F97-4871-A58F-58837872C084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2732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0–6 mo</c:v>
                </c:pt>
                <c:pt idx="1">
                  <c:v>7–12 mo</c:v>
                </c:pt>
                <c:pt idx="2">
                  <c:v>13–24 mo</c:v>
                </c:pt>
                <c:pt idx="3">
                  <c:v>25–48 mo</c:v>
                </c:pt>
                <c:pt idx="4">
                  <c:v>49–72 mo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52.94</c:v>
                </c:pt>
                <c:pt idx="1">
                  <c:v>35.89</c:v>
                </c:pt>
                <c:pt idx="2">
                  <c:v>28.71</c:v>
                </c:pt>
                <c:pt idx="3">
                  <c:v>20.39</c:v>
                </c:pt>
                <c:pt idx="4">
                  <c:v>9.51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97-4871-A58F-58837872C0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732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2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C81E3A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45.29%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796-4E7E-9A2B-F222CB295ED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19.11%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796-4E7E-9A2B-F222CB295ED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16.71%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796-4E7E-9A2B-F222CB295ED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15.24%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796-4E7E-9A2B-F222CB295ED1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732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Electronic check</c:v>
                </c:pt>
                <c:pt idx="1">
                  <c:v>Mailed check</c:v>
                </c:pt>
                <c:pt idx="2">
                  <c:v>Bank transfer</c:v>
                </c:pt>
                <c:pt idx="3">
                  <c:v>Credit 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45.29</c:v>
                </c:pt>
                <c:pt idx="1">
                  <c:v>19.11</c:v>
                </c:pt>
                <c:pt idx="2">
                  <c:v>16.71</c:v>
                </c:pt>
                <c:pt idx="3">
                  <c:v>15.24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96-4E7E-9A2B-F222CB295E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732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8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Churn Rate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1.1000000000000001</c:v>
                </c:pt>
                <c:pt idx="1">
                  <c:v>2</c:v>
                </c:pt>
                <c:pt idx="2">
                  <c:v>4.3</c:v>
                </c:pt>
                <c:pt idx="3">
                  <c:v>9.4</c:v>
                </c:pt>
                <c:pt idx="4">
                  <c:v>15</c:v>
                </c:pt>
                <c:pt idx="5">
                  <c:v>22.3</c:v>
                </c:pt>
                <c:pt idx="6">
                  <c:v>32.4</c:v>
                </c:pt>
                <c:pt idx="7">
                  <c:v>42</c:v>
                </c:pt>
                <c:pt idx="8">
                  <c:v>60.1</c:v>
                </c:pt>
                <c:pt idx="9">
                  <c:v>76.7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1E-45AA-8C6F-B14A823CF4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Avg. Predicted Probability</c:v>
                </c:pt>
              </c:strCache>
            </c:strRef>
          </c:tx>
          <c:spPr>
            <a:ln w="28575" cap="flat">
              <a:solidFill>
                <a:srgbClr val="C81E3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81E3A"/>
              </a:solidFill>
              <a:ln w="9525" cap="flat">
                <a:solidFill>
                  <a:srgbClr val="C81E3A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0.9</c:v>
                </c:pt>
                <c:pt idx="1">
                  <c:v>2.2000000000000002</c:v>
                </c:pt>
                <c:pt idx="2">
                  <c:v>4.4000000000000004</c:v>
                </c:pt>
                <c:pt idx="3">
                  <c:v>8.3000000000000007</c:v>
                </c:pt>
                <c:pt idx="4">
                  <c:v>14.9</c:v>
                </c:pt>
                <c:pt idx="5">
                  <c:v>22.8</c:v>
                </c:pt>
                <c:pt idx="6">
                  <c:v>32.6</c:v>
                </c:pt>
                <c:pt idx="7">
                  <c:v>44.9</c:v>
                </c:pt>
                <c:pt idx="8">
                  <c:v>58.9</c:v>
                </c:pt>
                <c:pt idx="9">
                  <c:v>76.099999999999994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1E-45AA-8C6F-B14A823CF4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6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69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at Risk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1.3888888888888888E-2"/>
                </c:manualLayout>
              </c:layout>
              <c:tx>
                <c:rich>
                  <a:bodyPr/>
                  <a:lstStyle/>
                  <a:p>
                    <a:fld id="{3C4A7C9D-DE87-4706-96C7-6B4FA436523A}" type="VALUE">
                      <a:rPr lang="en-US" smtClean="0"/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DEEC-4450-8EA5-203D16029F1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50" b="0" i="0" u="none" strike="noStrike" baseline="0" dirty="0"/>
                      <a:t>₹42,453.83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EEC-4450-8EA5-203D16029F1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50" b="0" i="0" u="none" strike="noStrike" baseline="0" dirty="0"/>
                      <a:t>₹18,084.26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EEC-4450-8EA5-203D16029F1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50" b="0" i="0" u="none" strike="noStrike" baseline="0" dirty="0"/>
                      <a:t>₹11,838.48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EEC-4450-8EA5-203D16029F1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50" b="0" i="0" u="none" strike="noStrike" baseline="0" dirty="0"/>
                      <a:t>₹9,322.97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62298868320973"/>
                      <c:h val="6.446777486147564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DEEC-4450-8EA5-203D16029F1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145B9D50-81B9-4BDB-A4C7-71FBA7B97BCB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.08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EEC-4450-8EA5-203D16029F11}"/>
                </c:ext>
              </c:extLst>
            </c:dLbl>
            <c:numFmt formatCode="&quot;₹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732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HV / High Risk</c:v>
                </c:pt>
                <c:pt idx="1">
                  <c:v>HV / Medium Risk</c:v>
                </c:pt>
                <c:pt idx="2">
                  <c:v>HV / Low Risk</c:v>
                </c:pt>
                <c:pt idx="3">
                  <c:v>LV / Medium Risk</c:v>
                </c:pt>
                <c:pt idx="4">
                  <c:v>LV / Low Risk</c:v>
                </c:pt>
                <c:pt idx="5">
                  <c:v>LV / High Risk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50862.13</c:v>
                </c:pt>
                <c:pt idx="1">
                  <c:v>42453.83</c:v>
                </c:pt>
                <c:pt idx="2">
                  <c:v>18084.259999999998</c:v>
                </c:pt>
                <c:pt idx="3">
                  <c:v>11838.48</c:v>
                </c:pt>
                <c:pt idx="4">
                  <c:v>9322.9699999999993</c:v>
                </c:pt>
                <c:pt idx="5">
                  <c:v>7377.08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EC-4450-8EA5-203D16029F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732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800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3123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3F9831C-7526-D1F7-7736-437FC17BD5B5}"/>
              </a:ext>
            </a:extLst>
          </p:cNvPr>
          <p:cNvSpPr/>
          <p:nvPr/>
        </p:nvSpPr>
        <p:spPr>
          <a:xfrm>
            <a:off x="8778240" y="0"/>
            <a:ext cx="3413760" cy="3931920"/>
          </a:xfrm>
          <a:custGeom>
            <a:avLst/>
            <a:gdLst>
              <a:gd name="csX0" fmla="*/ 161568 w 3413760"/>
              <a:gd name="csY0" fmla="*/ 0 h 3931920"/>
              <a:gd name="csX1" fmla="*/ 3413760 w 3413760"/>
              <a:gd name="csY1" fmla="*/ 0 h 3931920"/>
              <a:gd name="csX2" fmla="*/ 3413760 w 3413760"/>
              <a:gd name="csY2" fmla="*/ 3895499 h 3931920"/>
              <a:gd name="csX3" fmla="*/ 3275649 w 3413760"/>
              <a:gd name="csY3" fmla="*/ 3916577 h 3931920"/>
              <a:gd name="csX4" fmla="*/ 2971800 w 3413760"/>
              <a:gd name="csY4" fmla="*/ 3931920 h 3931920"/>
              <a:gd name="csX5" fmla="*/ 0 w 3413760"/>
              <a:gd name="csY5" fmla="*/ 960120 h 3931920"/>
              <a:gd name="csX6" fmla="*/ 133606 w 3413760"/>
              <a:gd name="csY6" fmla="*/ 76398 h 3931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413760" h="3931920">
                <a:moveTo>
                  <a:pt x="161568" y="0"/>
                </a:moveTo>
                <a:lnTo>
                  <a:pt x="3413760" y="0"/>
                </a:lnTo>
                <a:lnTo>
                  <a:pt x="3413760" y="3895499"/>
                </a:lnTo>
                <a:lnTo>
                  <a:pt x="3275649" y="3916577"/>
                </a:lnTo>
                <a:cubicBezTo>
                  <a:pt x="3175746" y="3926723"/>
                  <a:pt x="3074380" y="3931920"/>
                  <a:pt x="2971800" y="3931920"/>
                </a:cubicBezTo>
                <a:cubicBezTo>
                  <a:pt x="1330520" y="3931920"/>
                  <a:pt x="0" y="2601400"/>
                  <a:pt x="0" y="960120"/>
                </a:cubicBezTo>
                <a:cubicBezTo>
                  <a:pt x="0" y="652380"/>
                  <a:pt x="46776" y="355565"/>
                  <a:pt x="133606" y="76398"/>
                </a:cubicBezTo>
                <a:close/>
              </a:path>
            </a:pathLst>
          </a:custGeom>
          <a:solidFill>
            <a:srgbClr val="24306E"/>
          </a:solidFill>
          <a:ln/>
        </p:spPr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09AB6CA-3E4C-F261-15C0-04973B3CCA85}"/>
              </a:ext>
            </a:extLst>
          </p:cNvPr>
          <p:cNvSpPr/>
          <p:nvPr/>
        </p:nvSpPr>
        <p:spPr>
          <a:xfrm>
            <a:off x="10607040" y="2743200"/>
            <a:ext cx="1584959" cy="2377440"/>
          </a:xfrm>
          <a:custGeom>
            <a:avLst/>
            <a:gdLst>
              <a:gd name="csX0" fmla="*/ 1188720 w 1584959"/>
              <a:gd name="csY0" fmla="*/ 0 h 2377440"/>
              <a:gd name="csX1" fmla="*/ 1542209 w 1584959"/>
              <a:gd name="csY1" fmla="*/ 53443 h 2377440"/>
              <a:gd name="csX2" fmla="*/ 1584959 w 1584959"/>
              <a:gd name="csY2" fmla="*/ 69089 h 2377440"/>
              <a:gd name="csX3" fmla="*/ 1584959 w 1584959"/>
              <a:gd name="csY3" fmla="*/ 2308351 h 2377440"/>
              <a:gd name="csX4" fmla="*/ 1542209 w 1584959"/>
              <a:gd name="csY4" fmla="*/ 2323998 h 2377440"/>
              <a:gd name="csX5" fmla="*/ 1188720 w 1584959"/>
              <a:gd name="csY5" fmla="*/ 2377440 h 2377440"/>
              <a:gd name="csX6" fmla="*/ 0 w 1584959"/>
              <a:gd name="csY6" fmla="*/ 1188720 h 2377440"/>
              <a:gd name="csX7" fmla="*/ 1188720 w 1584959"/>
              <a:gd name="csY7" fmla="*/ 0 h 2377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84959" h="2377440">
                <a:moveTo>
                  <a:pt x="1188720" y="0"/>
                </a:moveTo>
                <a:cubicBezTo>
                  <a:pt x="1311816" y="0"/>
                  <a:pt x="1430542" y="18711"/>
                  <a:pt x="1542209" y="53443"/>
                </a:cubicBezTo>
                <a:lnTo>
                  <a:pt x="1584959" y="69089"/>
                </a:lnTo>
                <a:lnTo>
                  <a:pt x="1584959" y="2308351"/>
                </a:lnTo>
                <a:lnTo>
                  <a:pt x="1542209" y="2323998"/>
                </a:lnTo>
                <a:cubicBezTo>
                  <a:pt x="1430542" y="2358730"/>
                  <a:pt x="1311816" y="2377440"/>
                  <a:pt x="1188720" y="2377440"/>
                </a:cubicBezTo>
                <a:cubicBezTo>
                  <a:pt x="532208" y="2377440"/>
                  <a:pt x="0" y="1845232"/>
                  <a:pt x="0" y="1188720"/>
                </a:cubicBezTo>
                <a:cubicBezTo>
                  <a:pt x="0" y="532208"/>
                  <a:pt x="532208" y="0"/>
                  <a:pt x="1188720" y="0"/>
                </a:cubicBezTo>
                <a:close/>
              </a:path>
            </a:pathLst>
          </a:custGeom>
          <a:solidFill>
            <a:srgbClr val="2B3878"/>
          </a:solidFill>
          <a:ln/>
        </p:spPr>
        <p:txBody>
          <a:bodyPr wrap="square">
            <a:noAutofit/>
          </a:bodyPr>
          <a:lstStyle/>
          <a:p>
            <a:endParaRPr lang="en-IN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6E4012B-4A24-3F96-0967-046090D6C762}"/>
              </a:ext>
            </a:extLst>
          </p:cNvPr>
          <p:cNvSpPr/>
          <p:nvPr/>
        </p:nvSpPr>
        <p:spPr>
          <a:xfrm>
            <a:off x="1" y="5605272"/>
            <a:ext cx="2086299" cy="1252728"/>
          </a:xfrm>
          <a:custGeom>
            <a:avLst/>
            <a:gdLst>
              <a:gd name="csX0" fmla="*/ 640080 w 2086299"/>
              <a:gd name="csY0" fmla="*/ 0 h 1252728"/>
              <a:gd name="csX1" fmla="*/ 2073396 w 2086299"/>
              <a:gd name="csY1" fmla="*/ 1168187 h 1252728"/>
              <a:gd name="csX2" fmla="*/ 2086299 w 2086299"/>
              <a:gd name="csY2" fmla="*/ 1252728 h 1252728"/>
              <a:gd name="csX3" fmla="*/ 0 w 2086299"/>
              <a:gd name="csY3" fmla="*/ 1252728 h 1252728"/>
              <a:gd name="csX4" fmla="*/ 0 w 2086299"/>
              <a:gd name="csY4" fmla="*/ 148982 h 1252728"/>
              <a:gd name="csX5" fmla="*/ 70599 w 2086299"/>
              <a:gd name="csY5" fmla="*/ 114973 h 1252728"/>
              <a:gd name="csX6" fmla="*/ 640080 w 2086299"/>
              <a:gd name="csY6" fmla="*/ 0 h 12527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086299" h="1252728">
                <a:moveTo>
                  <a:pt x="640080" y="0"/>
                </a:moveTo>
                <a:cubicBezTo>
                  <a:pt x="1347093" y="0"/>
                  <a:pt x="1936973" y="501504"/>
                  <a:pt x="2073396" y="1168187"/>
                </a:cubicBezTo>
                <a:lnTo>
                  <a:pt x="2086299" y="1252728"/>
                </a:lnTo>
                <a:lnTo>
                  <a:pt x="0" y="1252728"/>
                </a:lnTo>
                <a:lnTo>
                  <a:pt x="0" y="148982"/>
                </a:lnTo>
                <a:lnTo>
                  <a:pt x="70599" y="114973"/>
                </a:lnTo>
                <a:cubicBezTo>
                  <a:pt x="245634" y="40939"/>
                  <a:pt x="438076" y="0"/>
                  <a:pt x="640080" y="0"/>
                </a:cubicBezTo>
                <a:close/>
              </a:path>
            </a:pathLst>
          </a:custGeom>
          <a:solidFill>
            <a:srgbClr val="2430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·  PREDICTIVE RISK SCORING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542032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Analysis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611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revenue at risk and prioritizing retention through predictive modeling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4617720"/>
            <a:ext cx="1463040" cy="0"/>
          </a:xfrm>
          <a:prstGeom prst="line">
            <a:avLst/>
          </a:prstGeom>
          <a:noFill/>
          <a:ln w="38100">
            <a:solidFill>
              <a:srgbClr val="C81E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customers analyzed   </a:t>
            </a:r>
            <a:r>
              <a:rPr lang="en-US" sz="1250" dirty="0">
                <a:solidFill>
                  <a:srgbClr val="5A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Random Forest models   </a:t>
            </a:r>
            <a:r>
              <a:rPr lang="en-US" sz="1250" dirty="0">
                <a:solidFill>
                  <a:srgbClr val="5A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Python workflow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263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Dhanush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 &amp; 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166360" cy="4343400"/>
          </a:xfrm>
          <a:prstGeom prst="roundRect">
            <a:avLst>
              <a:gd name="adj" fmla="val 1684"/>
            </a:avLst>
          </a:prstGeom>
          <a:solidFill>
            <a:srgbClr val="E9F0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4526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recurring revenue by identifying which customers are likely to churn, how much monthly revenue that puts at risk, and which segments retention efforts should target first — before the customer leaves.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166360" cy="4343400"/>
          </a:xfrm>
          <a:prstGeom prst="roundRect">
            <a:avLst>
              <a:gd name="adj" fmla="val 1684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C81E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6517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154680"/>
            <a:ext cx="4526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50" dirty="0">
                <a:solidFill>
                  <a:srgbClr val="CADCFC"/>
                </a:solidFill>
              </a:rPr>
              <a:t>26.54% of the customer base has already churned. The dataset provides historical churn outcomes, but not a customer-level predictive risk score. This analysis adds churn probabilities and risk segments to support earlier retention prioritization</a:t>
            </a: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007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likely to churn, and why?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170078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customers most likely to leave and the factors driving that risk.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1115568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57860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81E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420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segments drive churn?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254203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churn across contract type, tenure, and payment method to find where risk concentrates.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1115568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41985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383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revenue is at risk?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33832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monthly revenue tied to at-risk customers so effort can be prioritized by impact.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133088"/>
            <a:ext cx="1115568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26110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81E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4261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2245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churn be predicted with useful accuracy?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422452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validate a model that scores every customer's churn probability with usable accuracy.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974336"/>
            <a:ext cx="1115568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510235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5102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506577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customers should retention target first?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5715000" y="506577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customers by combined value and risk to focus save-desk resources where they pay off most.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Snapshot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07909" cy="1920240"/>
          </a:xfrm>
          <a:prstGeom prst="roundRect">
            <a:avLst>
              <a:gd name="adj" fmla="val 3810"/>
            </a:avLst>
          </a:prstGeom>
          <a:solidFill>
            <a:srgbClr val="E9F0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195480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36392"/>
            <a:ext cx="1954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023360"/>
            <a:ext cx="2507909" cy="1920240"/>
          </a:xfrm>
          <a:prstGeom prst="roundRect">
            <a:avLst>
              <a:gd name="adj" fmla="val 3810"/>
            </a:avLst>
          </a:prstGeom>
          <a:solidFill>
            <a:srgbClr val="E9F0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297680"/>
            <a:ext cx="183214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₹64.76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376672"/>
            <a:ext cx="19548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Charges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43888" y="4031166"/>
            <a:ext cx="2521292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60780" y="4305486"/>
            <a:ext cx="16230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990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3460780" y="5384478"/>
            <a:ext cx="1847200" cy="208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Customers (&gt;60%)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60004" y="4023360"/>
            <a:ext cx="2744316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96411" y="4297680"/>
            <a:ext cx="22335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₹1,39,938.75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196410" y="5376672"/>
            <a:ext cx="22335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Monthly Revenue at Risk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E16C9248-A03C-3A05-A269-F8B9EBD5756D}"/>
              </a:ext>
            </a:extLst>
          </p:cNvPr>
          <p:cNvSpPr/>
          <p:nvPr/>
        </p:nvSpPr>
        <p:spPr>
          <a:xfrm>
            <a:off x="3243888" y="1783080"/>
            <a:ext cx="2521292" cy="1920240"/>
          </a:xfrm>
          <a:prstGeom prst="roundRect">
            <a:avLst>
              <a:gd name="adj" fmla="val 3810"/>
            </a:avLst>
          </a:prstGeom>
          <a:solidFill>
            <a:srgbClr val="E9F0FC"/>
          </a:solidFill>
          <a:ln/>
        </p:spPr>
      </p:sp>
      <p:sp>
        <p:nvSpPr>
          <p:cNvPr id="52" name="Text 3">
            <a:extLst>
              <a:ext uri="{FF2B5EF4-FFF2-40B4-BE49-F238E27FC236}">
                <a16:creationId xmlns:a16="http://schemas.microsoft.com/office/drawing/2014/main" id="{A6DAD817-DB38-2054-FDC6-E3C59A9284D7}"/>
              </a:ext>
            </a:extLst>
          </p:cNvPr>
          <p:cNvSpPr txBox="1"/>
          <p:nvPr/>
        </p:nvSpPr>
        <p:spPr>
          <a:xfrm>
            <a:off x="3518208" y="2057400"/>
            <a:ext cx="195480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1,869</a:t>
            </a:r>
            <a:endParaRPr lang="en-US" sz="38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5C7EF725-4D16-828F-F5F6-B35409D24136}"/>
              </a:ext>
            </a:extLst>
          </p:cNvPr>
          <p:cNvSpPr txBox="1"/>
          <p:nvPr/>
        </p:nvSpPr>
        <p:spPr>
          <a:xfrm>
            <a:off x="3518208" y="3136392"/>
            <a:ext cx="1954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250" dirty="0"/>
          </a:p>
        </p:txBody>
      </p:sp>
      <p:sp>
        <p:nvSpPr>
          <p:cNvPr id="56" name="Shape 2">
            <a:extLst>
              <a:ext uri="{FF2B5EF4-FFF2-40B4-BE49-F238E27FC236}">
                <a16:creationId xmlns:a16="http://schemas.microsoft.com/office/drawing/2014/main" id="{BC28BDB1-6E5B-ADF2-F79A-FB120AC2D548}"/>
              </a:ext>
            </a:extLst>
          </p:cNvPr>
          <p:cNvSpPr/>
          <p:nvPr/>
        </p:nvSpPr>
        <p:spPr>
          <a:xfrm>
            <a:off x="5989320" y="1767134"/>
            <a:ext cx="2767731" cy="1920240"/>
          </a:xfrm>
          <a:prstGeom prst="roundRect">
            <a:avLst>
              <a:gd name="adj" fmla="val 3810"/>
            </a:avLst>
          </a:prstGeom>
          <a:solidFill>
            <a:srgbClr val="E9F0FC"/>
          </a:solidFill>
          <a:ln/>
        </p:spPr>
      </p:sp>
      <p:sp>
        <p:nvSpPr>
          <p:cNvPr id="58" name="Text 3">
            <a:extLst>
              <a:ext uri="{FF2B5EF4-FFF2-40B4-BE49-F238E27FC236}">
                <a16:creationId xmlns:a16="http://schemas.microsoft.com/office/drawing/2014/main" id="{64121788-6732-F779-2CFF-44DA7D9C648F}"/>
              </a:ext>
            </a:extLst>
          </p:cNvPr>
          <p:cNvSpPr txBox="1"/>
          <p:nvPr/>
        </p:nvSpPr>
        <p:spPr>
          <a:xfrm>
            <a:off x="6263640" y="2041454"/>
            <a:ext cx="195480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26.54%</a:t>
            </a:r>
            <a:endParaRPr lang="en-US" sz="3800" dirty="0"/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A72C3897-7841-5DB1-779A-9402C3AA20E9}"/>
              </a:ext>
            </a:extLst>
          </p:cNvPr>
          <p:cNvSpPr txBox="1"/>
          <p:nvPr/>
        </p:nvSpPr>
        <p:spPr>
          <a:xfrm>
            <a:off x="6263640" y="3120446"/>
            <a:ext cx="1954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%</a:t>
            </a:r>
            <a:endParaRPr lang="en-US" sz="1250" dirty="0"/>
          </a:p>
        </p:txBody>
      </p:sp>
      <p:sp>
        <p:nvSpPr>
          <p:cNvPr id="62" name="Shape 2">
            <a:extLst>
              <a:ext uri="{FF2B5EF4-FFF2-40B4-BE49-F238E27FC236}">
                <a16:creationId xmlns:a16="http://schemas.microsoft.com/office/drawing/2014/main" id="{30D3B6B5-4715-1403-34C7-12F9C5E3C784}"/>
              </a:ext>
            </a:extLst>
          </p:cNvPr>
          <p:cNvSpPr/>
          <p:nvPr/>
        </p:nvSpPr>
        <p:spPr>
          <a:xfrm>
            <a:off x="8960004" y="1786425"/>
            <a:ext cx="2729076" cy="1920240"/>
          </a:xfrm>
          <a:prstGeom prst="roundRect">
            <a:avLst>
              <a:gd name="adj" fmla="val 3810"/>
            </a:avLst>
          </a:prstGeom>
          <a:solidFill>
            <a:srgbClr val="E9F0FC"/>
          </a:solidFill>
          <a:ln/>
        </p:spPr>
      </p:sp>
      <p:sp>
        <p:nvSpPr>
          <p:cNvPr id="64" name="Text 3">
            <a:extLst>
              <a:ext uri="{FF2B5EF4-FFF2-40B4-BE49-F238E27FC236}">
                <a16:creationId xmlns:a16="http://schemas.microsoft.com/office/drawing/2014/main" id="{D65A1002-D91F-58D0-C261-5D4EC1D28391}"/>
              </a:ext>
            </a:extLst>
          </p:cNvPr>
          <p:cNvSpPr txBox="1"/>
          <p:nvPr/>
        </p:nvSpPr>
        <p:spPr>
          <a:xfrm>
            <a:off x="9234324" y="2060745"/>
            <a:ext cx="195480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</a:t>
            </a: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1100" dirty="0"/>
          </a:p>
        </p:txBody>
      </p:sp>
      <p:sp>
        <p:nvSpPr>
          <p:cNvPr id="66" name="Text 4">
            <a:extLst>
              <a:ext uri="{FF2B5EF4-FFF2-40B4-BE49-F238E27FC236}">
                <a16:creationId xmlns:a16="http://schemas.microsoft.com/office/drawing/2014/main" id="{F2B168FC-9CAD-2D50-4738-77555A8C07A4}"/>
              </a:ext>
            </a:extLst>
          </p:cNvPr>
          <p:cNvSpPr txBox="1"/>
          <p:nvPr/>
        </p:nvSpPr>
        <p:spPr>
          <a:xfrm>
            <a:off x="9234324" y="3139737"/>
            <a:ext cx="19548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Tenure</a:t>
            </a:r>
            <a:endParaRPr lang="en-US" sz="1250" dirty="0"/>
          </a:p>
        </p:txBody>
      </p:sp>
      <p:sp>
        <p:nvSpPr>
          <p:cNvPr id="72" name="Shape 14">
            <a:extLst>
              <a:ext uri="{FF2B5EF4-FFF2-40B4-BE49-F238E27FC236}">
                <a16:creationId xmlns:a16="http://schemas.microsoft.com/office/drawing/2014/main" id="{AB296CC3-D6B6-390E-E350-6F1FFAA77859}"/>
              </a:ext>
            </a:extLst>
          </p:cNvPr>
          <p:cNvSpPr/>
          <p:nvPr/>
        </p:nvSpPr>
        <p:spPr>
          <a:xfrm>
            <a:off x="5998239" y="4031166"/>
            <a:ext cx="2758812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74" name="Text 15">
            <a:extLst>
              <a:ext uri="{FF2B5EF4-FFF2-40B4-BE49-F238E27FC236}">
                <a16:creationId xmlns:a16="http://schemas.microsoft.com/office/drawing/2014/main" id="{861E1DEF-F82D-C192-BB5B-2517E45D23BB}"/>
              </a:ext>
            </a:extLst>
          </p:cNvPr>
          <p:cNvSpPr txBox="1"/>
          <p:nvPr/>
        </p:nvSpPr>
        <p:spPr>
          <a:xfrm>
            <a:off x="6272559" y="4305486"/>
            <a:ext cx="232886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₹80,057.80</a:t>
            </a:r>
            <a:endParaRPr lang="en-US" sz="2600" dirty="0"/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84073396-E12D-65BC-9150-EF4E35FF6701}"/>
              </a:ext>
            </a:extLst>
          </p:cNvPr>
          <p:cNvSpPr txBox="1"/>
          <p:nvPr/>
        </p:nvSpPr>
        <p:spPr>
          <a:xfrm>
            <a:off x="6272559" y="5384478"/>
            <a:ext cx="23288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Monthly Revenue Exposure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PATTERNS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Concentrates in Short Contracts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Contract Type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275489191"/>
              </p:ext>
            </p:extLst>
          </p:nvPr>
        </p:nvGraphicFramePr>
        <p:xfrm>
          <a:off x="502920" y="2057400"/>
          <a:ext cx="56692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537960" y="16916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Tenure Group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898714680"/>
              </p:ext>
            </p:extLst>
          </p:nvPr>
        </p:nvGraphicFramePr>
        <p:xfrm>
          <a:off x="6537960" y="1965960"/>
          <a:ext cx="516636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537960" y="37947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Payment Method</a:t>
            </a:r>
            <a:endParaRPr lang="en-US" sz="1300" dirty="0"/>
          </a:p>
        </p:txBody>
      </p:sp>
      <p:graphicFrame>
        <p:nvGraphicFramePr>
          <p:cNvPr id="9" name="Chart 2"/>
          <p:cNvGraphicFramePr/>
          <p:nvPr>
            <p:extLst>
              <p:ext uri="{D42A27DB-BD31-4B8C-83A1-F6EECF244321}">
                <p14:modId xmlns:p14="http://schemas.microsoft.com/office/powerpoint/2010/main" val="2575519737"/>
              </p:ext>
            </p:extLst>
          </p:nvPr>
        </p:nvGraphicFramePr>
        <p:xfrm>
          <a:off x="6537960" y="4069080"/>
          <a:ext cx="516636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502920" y="51663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E9F0FC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731520" y="5166360"/>
            <a:ext cx="1074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0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have about 15x the observed churn rate of two-year customers, while electronic-check customers have about 3x the observed churn rate of credit-card automatic-payment customers — </a:t>
            </a: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patterns highlight contract type and payment method as areas for further retention investigation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2" name="Text 7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Churn</a:t>
            </a:r>
            <a:r>
              <a:rPr lang="en-IN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Relationships Are Statistically Significant</a:t>
            </a:r>
            <a:endParaRPr lang="en-US" sz="32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E9F0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791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449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–34.824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747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average 17.98 months of tenure vs. 37.57 months for retained customers — a statistically significant difference.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E9F0F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05740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791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0449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1,184.597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4747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association exists between contract type and churn.</a:t>
            </a:r>
            <a:endParaRPr lang="en-US" sz="1250" dirty="0">
              <a:solidFill>
                <a:srgbClr val="27324A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92440" y="178308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E9F0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205740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6791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Charges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0449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= 0.446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4747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pay ₹74.44/mo on average vs. ₹61.27 for retained customers, with a moderate effect size.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21208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521208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IN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three statistical tests are statistically significant at p &lt; 0.001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3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Predictive Modeling Identifies Meaningful Churn Risk</a:t>
            </a:r>
            <a:endParaRPr lang="en-US" sz="30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72147"/>
              </p:ext>
            </p:extLst>
          </p:nvPr>
        </p:nvGraphicFramePr>
        <p:xfrm>
          <a:off x="502920" y="2011680"/>
          <a:ext cx="5486401" cy="1234440"/>
        </p:xfrm>
        <a:graphic>
          <a:graphicData uri="http://schemas.openxmlformats.org/drawingml/2006/table">
            <a:tbl>
              <a:tblPr/>
              <a:tblGrid>
                <a:gridCol w="1483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5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507">
                  <a:extLst>
                    <a:ext uri="{9D8B030D-6E8A-4147-A177-3AD203B41FA5}">
                      <a16:colId xmlns:a16="http://schemas.microsoft.com/office/drawing/2014/main" val="143373712"/>
                    </a:ext>
                  </a:extLst>
                </a:gridCol>
                <a:gridCol w="8005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51.60%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57.78%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3337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</a:t>
            </a:r>
            <a:r>
              <a:rPr lang="en-IN" sz="1150" i="1" dirty="0">
                <a:solidFill>
                  <a:srgbClr val="6B7690"/>
                </a:solidFill>
              </a:rPr>
              <a:t>achieved 84.53% ROC-AUC, outperforming Random Forest at 82.68% and providing an interpretable basis for customer risk scoring</a:t>
            </a:r>
            <a:r>
              <a:rPr lang="en-US" sz="11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50" i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1,409 customers (1,035 retained · 374 churned).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Actual Churn Rate by Risk Decile</a:t>
            </a:r>
            <a:endParaRPr lang="en-US" sz="1300" dirty="0"/>
          </a:p>
        </p:txBody>
      </p:sp>
      <p:sp>
        <p:nvSpPr>
          <p:cNvPr id="5" name="Text 5"/>
          <p:cNvSpPr txBox="1"/>
          <p:nvPr/>
        </p:nvSpPr>
        <p:spPr>
          <a:xfrm>
            <a:off x="502920" y="4251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Deciles 1 (lowest risk) → 10 (highest risk)  ·  thresholds: Low 0–30%  ·  Medium 30–60%  ·  High &gt;60%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02920" y="4553712"/>
          <a:ext cx="54864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537960" y="16916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Churn Risk Factors (Odds Ratios)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537960" y="2057400"/>
            <a:ext cx="5166360" cy="365760"/>
          </a:xfrm>
          <a:prstGeom prst="roundRect">
            <a:avLst>
              <a:gd name="adj" fmla="val 12500"/>
            </a:avLst>
          </a:prstGeom>
          <a:solidFill>
            <a:srgbClr val="E9F0FC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720840" y="20574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internet service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1060704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3.47×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537960" y="2496312"/>
            <a:ext cx="5166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720840" y="24963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phone lines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607040" y="2496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1.54×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537960" y="2935224"/>
            <a:ext cx="5166360" cy="365760"/>
          </a:xfrm>
          <a:prstGeom prst="roundRect">
            <a:avLst>
              <a:gd name="adj" fmla="val 12500"/>
            </a:avLst>
          </a:prstGeom>
          <a:solidFill>
            <a:srgbClr val="E9F0F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720840" y="293522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movies add-on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10607040" y="29352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1.53×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537960" y="3374136"/>
            <a:ext cx="5166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720840" y="337413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TV add-on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10607040" y="33741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1.52×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537960" y="3813048"/>
            <a:ext cx="5166360" cy="365760"/>
          </a:xfrm>
          <a:prstGeom prst="roundRect">
            <a:avLst>
              <a:gd name="adj" fmla="val 12500"/>
            </a:avLst>
          </a:prstGeom>
          <a:solidFill>
            <a:srgbClr val="E9F0FC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720840" y="38130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billing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10607040" y="38130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1.48×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537960" y="4251960"/>
            <a:ext cx="5166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720840" y="4251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payment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10607040" y="4251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1.42×</a:t>
            </a:r>
            <a:endParaRPr lang="en-US" sz="1350" dirty="0"/>
          </a:p>
        </p:txBody>
      </p:sp>
      <p:sp>
        <p:nvSpPr>
          <p:cNvPr id="29" name="Text 25"/>
          <p:cNvSpPr txBox="1"/>
          <p:nvPr/>
        </p:nvSpPr>
        <p:spPr>
          <a:xfrm>
            <a:off x="6537960" y="48920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Associated with Lower Odds of Churn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537960" y="5239512"/>
            <a:ext cx="5166360" cy="365760"/>
          </a:xfrm>
          <a:prstGeom prst="roundRect">
            <a:avLst>
              <a:gd name="adj" fmla="val 12500"/>
            </a:avLst>
          </a:prstGeom>
          <a:solidFill>
            <a:srgbClr val="E6F4EE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720840" y="52395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Two-year contract</a:t>
            </a:r>
            <a:endParaRPr lang="en-US" sz="1150" dirty="0"/>
          </a:p>
        </p:txBody>
      </p:sp>
      <p:sp>
        <p:nvSpPr>
          <p:cNvPr id="32" name="Text 28"/>
          <p:cNvSpPr txBox="1"/>
          <p:nvPr/>
        </p:nvSpPr>
        <p:spPr>
          <a:xfrm>
            <a:off x="10607040" y="52395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E7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0.23×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6537960" y="5678424"/>
            <a:ext cx="5166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720840" y="567842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One-year contract</a:t>
            </a:r>
            <a:endParaRPr lang="en-US" sz="1150" dirty="0"/>
          </a:p>
        </p:txBody>
      </p:sp>
      <p:sp>
        <p:nvSpPr>
          <p:cNvPr id="35" name="Text 31"/>
          <p:cNvSpPr txBox="1"/>
          <p:nvPr/>
        </p:nvSpPr>
        <p:spPr>
          <a:xfrm>
            <a:off x="10607040" y="56784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E7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0.50×</a:t>
            </a:r>
            <a:endParaRPr lang="en-US" sz="1350" dirty="0"/>
          </a:p>
        </p:txBody>
      </p:sp>
      <p:sp>
        <p:nvSpPr>
          <p:cNvPr id="36" name="Text 32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Monthly Revenue Risk by Priority Segment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6355080" cy="3383282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C8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 / High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8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8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81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₹69,610.20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 / Medium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₹94,113.95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 / Low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₹1,55,437.75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Value / Medium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₹27,475.45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Value / Low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₹99,031.65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Value / High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₹10,447.60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178040" y="1726727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Monthly Revenue at Risk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1984248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priority segment (₹ / month)</a:t>
            </a:r>
            <a:endParaRPr lang="en-US" sz="95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017822975"/>
              </p:ext>
            </p:extLst>
          </p:nvPr>
        </p:nvGraphicFramePr>
        <p:xfrm>
          <a:off x="7178040" y="2286000"/>
          <a:ext cx="450799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166360"/>
            <a:ext cx="11183112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4" name="Text 5"/>
          <p:cNvSpPr txBox="1"/>
          <p:nvPr/>
        </p:nvSpPr>
        <p:spPr>
          <a:xfrm>
            <a:off x="777240" y="51663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₹1,39,938.75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expected monthly revenue at risk across the base (≈ ₹16,79,265 annualized). The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/ High Risk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segment alone — 804 customers, 73% actual churn — accounts for ₹50,862.13/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expected revenue risk. Of the total, ₹80,057.80/mo is already billed today to the 990 customers flagged high-risk.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ADDFEF3-4D40-7329-CF7D-47A233D47F0C}"/>
              </a:ext>
            </a:extLst>
          </p:cNvPr>
          <p:cNvSpPr/>
          <p:nvPr/>
        </p:nvSpPr>
        <p:spPr>
          <a:xfrm>
            <a:off x="0" y="0"/>
            <a:ext cx="3383280" cy="2834640"/>
          </a:xfrm>
          <a:custGeom>
            <a:avLst/>
            <a:gdLst>
              <a:gd name="csX0" fmla="*/ 0 w 3383280"/>
              <a:gd name="csY0" fmla="*/ 0 h 2834640"/>
              <a:gd name="csX1" fmla="*/ 3360692 w 3383280"/>
              <a:gd name="csY1" fmla="*/ 0 h 2834640"/>
              <a:gd name="csX2" fmla="*/ 3370298 w 3383280"/>
              <a:gd name="csY2" fmla="*/ 62937 h 2834640"/>
              <a:gd name="csX3" fmla="*/ 3383280 w 3383280"/>
              <a:gd name="csY3" fmla="*/ 320040 h 2834640"/>
              <a:gd name="csX4" fmla="*/ 868680 w 3383280"/>
              <a:gd name="csY4" fmla="*/ 2834640 h 2834640"/>
              <a:gd name="csX5" fmla="*/ 120915 w 3383280"/>
              <a:gd name="csY5" fmla="*/ 2721589 h 2834640"/>
              <a:gd name="csX6" fmla="*/ 0 w 3383280"/>
              <a:gd name="csY6" fmla="*/ 2677333 h 28346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83280" h="2834640">
                <a:moveTo>
                  <a:pt x="0" y="0"/>
                </a:moveTo>
                <a:lnTo>
                  <a:pt x="3360692" y="0"/>
                </a:lnTo>
                <a:lnTo>
                  <a:pt x="3370298" y="62937"/>
                </a:lnTo>
                <a:cubicBezTo>
                  <a:pt x="3378882" y="147470"/>
                  <a:pt x="3383280" y="233242"/>
                  <a:pt x="3383280" y="320040"/>
                </a:cubicBezTo>
                <a:cubicBezTo>
                  <a:pt x="3383280" y="1708815"/>
                  <a:pt x="2257455" y="2834640"/>
                  <a:pt x="868680" y="2834640"/>
                </a:cubicBezTo>
                <a:cubicBezTo>
                  <a:pt x="608285" y="2834640"/>
                  <a:pt x="357134" y="2795060"/>
                  <a:pt x="120915" y="2721589"/>
                </a:cubicBezTo>
                <a:lnTo>
                  <a:pt x="0" y="2677333"/>
                </a:lnTo>
                <a:close/>
              </a:path>
            </a:pathLst>
          </a:custGeom>
          <a:solidFill>
            <a:srgbClr val="2430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ACT NEXT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1E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916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the High Value / High Risk segment first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691640"/>
            <a:ext cx="6537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804 customers with ₹50,862.13/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expected revenue risk and 73% actual churn — route these to save-desk outreach and retention offers immediately.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523744"/>
            <a:ext cx="11155680" cy="0"/>
          </a:xfrm>
          <a:prstGeom prst="line">
            <a:avLst/>
          </a:prstGeom>
          <a:noFill/>
          <a:ln w="12700">
            <a:solidFill>
              <a:srgbClr val="3741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6334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1E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58775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Incentivize contract upgrades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587752"/>
            <a:ext cx="6537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chuen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rate is 42.71% for month-to-month customers versus 2.83% for two-year customers. </a:t>
            </a:r>
            <a:r>
              <a:rPr lang="en-IN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contract-upgrade offers, especially for customers in their first 6 months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11155680" cy="0"/>
          </a:xfrm>
          <a:prstGeom prst="line">
            <a:avLst/>
          </a:prstGeom>
          <a:noFill/>
          <a:ln w="12700">
            <a:solidFill>
              <a:srgbClr val="3741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5295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1E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8386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fiber-optic experience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83864"/>
            <a:ext cx="6537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Fiber-optic service is associated with 3.47× the </a:t>
            </a:r>
            <a:r>
              <a:rPr lang="en-IN" sz="1200" dirty="0" err="1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modeled</a:t>
            </a:r>
            <a:r>
              <a:rPr lang="en-IN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odds of churn relative to the reference category. Investigate whether the pricing, service quality, or support experience explains this association.</a:t>
            </a:r>
            <a:endParaRPr lang="en-US" sz="12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920" y="4315968"/>
            <a:ext cx="11155680" cy="0"/>
          </a:xfrm>
          <a:prstGeom prst="line">
            <a:avLst/>
          </a:prstGeom>
          <a:noFill/>
          <a:ln w="12700">
            <a:solidFill>
              <a:srgbClr val="3741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4256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1E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37997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electronic-check payers to autopay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4379976"/>
            <a:ext cx="6537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45.29% churn vs. 15–17% for automatic payment methods — </a:t>
            </a:r>
            <a:r>
              <a:rPr lang="en-IN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whether migrating electronic-check customers to automatic payment methods can reduce churn</a:t>
            </a: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5212080"/>
            <a:ext cx="11155680" cy="0"/>
          </a:xfrm>
          <a:prstGeom prst="line">
            <a:avLst/>
          </a:prstGeom>
          <a:noFill/>
          <a:ln w="12700">
            <a:solidFill>
              <a:srgbClr val="3741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5321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81E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292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527608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risk score operationally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5276088"/>
            <a:ext cx="6537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customers monthly with the logistic regression model (ROC-AUC 0.845) and route the 990 high-risk accounts to retention workflows.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1028</Words>
  <Application>Microsoft Office PowerPoint</Application>
  <PresentationFormat>Widescreen</PresentationFormat>
  <Paragraphs>204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Dhanush Narla</cp:lastModifiedBy>
  <cp:revision>5</cp:revision>
  <dcterms:created xsi:type="dcterms:W3CDTF">2026-09-26T06:10:14Z</dcterms:created>
  <dcterms:modified xsi:type="dcterms:W3CDTF">2026-09-26T09:10:17Z</dcterms:modified>
</cp:coreProperties>
</file>